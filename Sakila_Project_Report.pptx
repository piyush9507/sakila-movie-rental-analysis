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2B2424"/>
                </a:solidFill>
                <a:latin typeface="Arial"/>
              </a:defRPr>
            </a:pPr>
            <a:r>
              <a:rPr sz="1300" b="0" i="0" u="none" strike="noStrike">
                <a:solidFill>
                  <a:srgbClr val="2B2424"/>
                </a:solidFill>
                <a:latin typeface="Arial"/>
              </a:rPr>
              <a:t>Monthly Revenue Trend (2005)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8B1E3F"/>
            </a:solidFill>
            <a:ln w="38100" cap="flat">
              <a:solidFill>
                <a:srgbClr val="8B1E3F"/>
              </a:solidFill>
              <a:prstDash val="solid"/>
              <a:round/>
            </a:ln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424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8B1E3F"/>
              </a:solidFill>
              <a:ln w="9525" cap="flat">
                <a:solidFill>
                  <a:srgbClr val="8B1E3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May</c:v>
                  </c:pt>
                  <c:pt idx="1">
                    <c:v>June</c:v>
                  </c:pt>
                  <c:pt idx="2">
                    <c:v>July</c:v>
                  </c:pt>
                  <c:pt idx="3">
                    <c:v>August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4823</c:v>
                </c:pt>
                <c:pt idx="1">
                  <c:v>9630</c:v>
                </c:pt>
                <c:pt idx="2">
                  <c:v>28369</c:v>
                </c:pt>
                <c:pt idx="3">
                  <c:v>24070</c:v>
                </c:pt>
              </c:numCache>
            </c:numRef>
          </c:val>
          <c:smooth val="0"/>
        </c:ser>
        <c:dLbls>
          <c:numFmt formatCode="$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424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C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B2424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B2424"/>
                </a:solidFill>
                <a:latin typeface="Arial"/>
              </a:rPr>
              <a:t>Avg Revenue per Customer by Loyalty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per customer ($)</c:v>
                </c:pt>
              </c:strCache>
            </c:strRef>
          </c:tx>
          <c:spPr>
            <a:solidFill>
              <a:srgbClr val="D4A24C"/>
            </a:solidFill>
            <a:effectLst/>
          </c:spPr>
          <c:invertIfNegative val="0"/>
          <c:dLbls>
            <c:numFmt formatCode="$#,##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4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2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B242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
(1-14 rentals)</c:v>
                  </c:pt>
                  <c:pt idx="1">
                    <c:v>Mid
(15-29 rentals)</c:v>
                  </c:pt>
                  <c:pt idx="2">
                    <c:v>High
(30+ rentals)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55.62</c:v>
                </c:pt>
                <c:pt idx="1">
                  <c:v>102.12</c:v>
                </c:pt>
                <c:pt idx="2">
                  <c:v>138.21</c:v>
                </c:pt>
              </c:numCache>
            </c:numRef>
          </c:val>
        </c:ser>
        <c:dLbls>
          <c:numFmt formatCode="$#,##0.00" sourceLinked="0"/>
          <c:txPr>
            <a:bodyPr/>
            <a:lstStyle/>
            <a:p>
              <a:pPr>
                <a:defRPr b="0" i="0" strike="noStrike" sz="1100" u="none">
                  <a:solidFill>
                    <a:srgbClr val="2B24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C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B2424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B2424"/>
                </a:solidFill>
                <a:latin typeface="Arial"/>
              </a:rPr>
              <a:t>Rentals by Film Rating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Rentals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B1E3F"/>
              </a:solidFill>
              <a:effectLst/>
            </c:spPr>
          </c:dPt>
          <c:dPt>
            <c:idx val="1"/>
            <c:bubble3D val="0"/>
            <c:spPr>
              <a:solidFill>
                <a:srgbClr val="D4A24C"/>
              </a:solidFill>
              <a:effectLst/>
            </c:spPr>
          </c:dPt>
          <c:dPt>
            <c:idx val="2"/>
            <c:bubble3D val="0"/>
            <c:spPr>
              <a:solidFill>
                <a:srgbClr val="B0764C"/>
              </a:solidFill>
              <a:effectLst/>
            </c:spPr>
          </c:dPt>
          <c:dPt>
            <c:idx val="3"/>
            <c:bubble3D val="0"/>
            <c:spPr>
              <a:solidFill>
                <a:srgbClr val="6B5E5E"/>
              </a:solidFill>
              <a:effectLst/>
            </c:spPr>
          </c:dPt>
          <c:dPt>
            <c:idx val="4"/>
            <c:bubble3D val="0"/>
            <c:spPr>
              <a:solidFill>
                <a:srgbClr val="D8CFC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PG-13</c:v>
                </c:pt>
                <c:pt idx="1">
                  <c:v>NC-17</c:v>
                </c:pt>
                <c:pt idx="2">
                  <c:v>R</c:v>
                </c:pt>
                <c:pt idx="3">
                  <c:v>PG</c:v>
                </c:pt>
                <c:pt idx="4">
                  <c:v>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3585</c:v>
                </c:pt>
                <c:pt idx="1">
                  <c:v>3293</c:v>
                </c:pt>
                <c:pt idx="2">
                  <c:v>3181</c:v>
                </c:pt>
                <c:pt idx="3">
                  <c:v>3212</c:v>
                </c:pt>
                <c:pt idx="4">
                  <c:v>2773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2B2424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B2424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B2424"/>
                </a:solidFill>
                <a:latin typeface="Arial"/>
              </a:rPr>
              <a:t>Revenue by Inventory Demand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D4A24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050" u="none">
                    <a:solidFill>
                      <a:srgbClr val="2B24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4A24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0764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B1E3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 Demand
(≤ 3.0/copy)</c:v>
                  </c:pt>
                  <c:pt idx="1">
                    <c:v>Medium Demand
(3.0-3.6)</c:v>
                  </c:pt>
                  <c:pt idx="2">
                    <c:v>High Demand
(&gt; 3.6/copy)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12711</c:v>
                </c:pt>
                <c:pt idx="1">
                  <c:v>22759</c:v>
                </c:pt>
                <c:pt idx="2">
                  <c:v>31978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050" u="none">
                  <a:solidFill>
                    <a:srgbClr val="2B24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DC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2B2424"/>
                </a:solidFill>
                <a:latin typeface="Arial"/>
              </a:defRPr>
            </a:pPr>
            <a:r>
              <a:rPr sz="1250" b="0" i="0" u="none" strike="noStrike">
                <a:solidFill>
                  <a:srgbClr val="2B2424"/>
                </a:solidFill>
                <a:latin typeface="Arial"/>
              </a:rPr>
              <a:t>Top 8 Countries by Rental Revenue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8B1E3F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2B24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India</c:v>
                  </c:pt>
                  <c:pt idx="1">
                    <c:v>China</c:v>
                  </c:pt>
                  <c:pt idx="2">
                    <c:v>United
States</c:v>
                  </c:pt>
                  <c:pt idx="3">
                    <c:v>Japan</c:v>
                  </c:pt>
                  <c:pt idx="4">
                    <c:v>Mexico</c:v>
                  </c:pt>
                  <c:pt idx="5">
                    <c:v>Brazil</c:v>
                  </c:pt>
                  <c:pt idx="6">
                    <c:v>Russian
Fed.</c:v>
                  </c:pt>
                  <c:pt idx="7">
                    <c:v>Philippines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6628</c:v>
                </c:pt>
                <c:pt idx="1">
                  <c:v>5799</c:v>
                </c:pt>
                <c:pt idx="2">
                  <c:v>4110</c:v>
                </c:pt>
                <c:pt idx="3">
                  <c:v>3471</c:v>
                </c:pt>
                <c:pt idx="4">
                  <c:v>3307</c:v>
                </c:pt>
                <c:pt idx="5">
                  <c:v>3201</c:v>
                </c:pt>
                <c:pt idx="6">
                  <c:v>3046</c:v>
                </c:pt>
                <c:pt idx="7">
                  <c:v>2381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950" u="none">
                  <a:solidFill>
                    <a:srgbClr val="2B24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DC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5E5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773936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23744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273552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023360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773168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522976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272784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022592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0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522208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9272016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021824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0771632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521440" y="6355080"/>
            <a:ext cx="292608" cy="201168"/>
          </a:xfrm>
          <a:prstGeom prst="roundRect">
            <a:avLst>
              <a:gd name="adj" fmla="val 18182"/>
            </a:avLst>
          </a:prstGeom>
          <a:solidFill>
            <a:srgbClr val="D4A24C">
              <a:alpha val="22000"/>
            </a:srgbClr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417320"/>
            <a:ext cx="566928" cy="56692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77240" y="2148840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SAKILA DVD RENTAL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822960" y="3063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Data Analytics Project Report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822960" y="3703320"/>
            <a:ext cx="4937760" cy="0"/>
          </a:xfrm>
          <a:prstGeom prst="line">
            <a:avLst/>
          </a:prstGeom>
          <a:noFill/>
          <a:ln w="15875">
            <a:solidFill>
              <a:srgbClr val="D4A24C">
                <a:alpha val="6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38862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D8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Exploratory Data Analysis   </a:t>
            </a:r>
            <a:pPr algn="l" indent="0" marL="0">
              <a:buNone/>
            </a:pPr>
            <a:r>
              <a:rPr lang="en-US" sz="135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algn="l" indent="0" marL="0">
              <a:buNone/>
            </a:pPr>
            <a:r>
              <a:rPr lang="en-US" sz="1350" dirty="0">
                <a:solidFill>
                  <a:srgbClr val="D8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 </a:t>
            </a:r>
            <a:pPr algn="l" indent="0" marL="0">
              <a:buNone/>
            </a:pPr>
            <a:r>
              <a:rPr lang="en-US" sz="1350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 </a:t>
            </a:r>
            <a:pPr algn="l" indent="0" marL="0">
              <a:buNone/>
            </a:pPr>
            <a:r>
              <a:rPr lang="en-US" sz="1350" dirty="0">
                <a:solidFill>
                  <a:srgbClr val="D8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Visualization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22960" y="5074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D4A24C">
                <a:alpha val="45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87552" y="514807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</a:t>
            </a:r>
            <a:endParaRPr lang="en-US" sz="2400" dirty="0"/>
          </a:p>
        </p:txBody>
      </p:sp>
      <p:sp>
        <p:nvSpPr>
          <p:cNvPr id="25" name="Text 22"/>
          <p:cNvSpPr/>
          <p:nvPr/>
        </p:nvSpPr>
        <p:spPr>
          <a:xfrm>
            <a:off x="987552" y="565099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3319272" y="5074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D4A24C">
                <a:alpha val="45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83864" y="514807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16,044</a:t>
            </a:r>
            <a:endParaRPr lang="en-US" sz="2400" dirty="0"/>
          </a:p>
        </p:txBody>
      </p:sp>
      <p:sp>
        <p:nvSpPr>
          <p:cNvPr id="28" name="Text 25"/>
          <p:cNvSpPr/>
          <p:nvPr/>
        </p:nvSpPr>
        <p:spPr>
          <a:xfrm>
            <a:off x="3483864" y="565099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5815584" y="5074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D4A24C">
                <a:alpha val="45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980176" y="514807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1,000</a:t>
            </a:r>
            <a:endParaRPr lang="en-US" sz="2400" dirty="0"/>
          </a:p>
        </p:txBody>
      </p:sp>
      <p:sp>
        <p:nvSpPr>
          <p:cNvPr id="31" name="Text 28"/>
          <p:cNvSpPr/>
          <p:nvPr/>
        </p:nvSpPr>
        <p:spPr>
          <a:xfrm>
            <a:off x="5980176" y="565099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FILMS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8311896" y="5074920"/>
            <a:ext cx="2331720" cy="960120"/>
          </a:xfrm>
          <a:prstGeom prst="roundRect">
            <a:avLst>
              <a:gd name="adj" fmla="val 6667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D4A24C">
                <a:alpha val="45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476488" y="5148072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599</a:t>
            </a:r>
            <a:endParaRPr lang="en-US" sz="2400" dirty="0"/>
          </a:p>
        </p:txBody>
      </p:sp>
      <p:sp>
        <p:nvSpPr>
          <p:cNvPr id="34" name="Text 31"/>
          <p:cNvSpPr/>
          <p:nvPr/>
        </p:nvSpPr>
        <p:spPr>
          <a:xfrm>
            <a:off x="8476488" y="565099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spc="100" kern="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Contents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724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 and what each section covers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65506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90472" y="1600200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Dataset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90472" y="1965960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Sakila schema, scope, and the MECE analytical framework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459736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60604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90472" y="255117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Methodology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0472" y="2916936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used to answer 12 EDA questions with SQL queries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" y="3410712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57016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90472" y="3502152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Seasonal Trends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90472" y="3867912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patterns and seasonal customer behaviour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77240" y="4361688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0799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90472" y="445312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&amp; Spend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90472" y="4818888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segmentation and top-spending customer profiles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77240" y="5312664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58968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90472" y="5404104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&amp; Category Insights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90472" y="5769864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ratings, categories, and regional content preferences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355080" y="1655064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68312" y="1600200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Operations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68312" y="1965960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availability, staffing patterns, and store performance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55080" y="2459736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606040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068312" y="2551176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Global Reach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068312" y="2916936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Country-level revenue distribution and regional analysis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55080" y="3410712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3557016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068312" y="3502152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68312" y="3867912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structure and navigation design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55080" y="4361688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507992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7068312" y="4453128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Summary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68312" y="4818888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findings across all analytical pillars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355080" y="5312664"/>
            <a:ext cx="5349240" cy="0"/>
          </a:xfrm>
          <a:prstGeom prst="line">
            <a:avLst/>
          </a:prstGeom>
          <a:noFill/>
          <a:ln w="6350">
            <a:solidFill>
              <a:srgbClr val="8B1E3F">
                <a:alpha val="2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5458968"/>
            <a:ext cx="685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068312" y="5404104"/>
            <a:ext cx="4636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Next Steps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068312" y="5769864"/>
            <a:ext cx="4636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project roadmap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Overview &amp;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Sakila database is a fully normalized DVD rental store schema with 16 interrelated tables, covering the complete business lifecycle from film catalog to customer payments.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4884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50008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41832" y="28620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Catalog &amp;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941832" y="363016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films • 16 categories • 5 ratings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916936" y="214884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235000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081528" y="28620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Base &amp;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081528" y="363016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599 customers • 109 countries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056632" y="214884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224" y="2350008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21224" y="28620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Ops &amp;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5221224" y="363016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4,581 copies • 2 stores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7196328" y="214884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35000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360920" y="28620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7360920" y="363016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$67,407 total • 16,044 transactions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9336024" y="2148840"/>
            <a:ext cx="1993392" cy="233172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0616" y="2350008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500616" y="2862072"/>
            <a:ext cx="16642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Reach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9500616" y="3630168"/>
            <a:ext cx="16642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cities • global footprint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777240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period: May 2005 – February 2006   |   Scope: SQL EDA, Power BI dashboard, Excel pivot charts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777240" y="5212080"/>
            <a:ext cx="10607040" cy="1051560"/>
          </a:xfrm>
          <a:prstGeom prst="roundRect">
            <a:avLst>
              <a:gd name="adj" fmla="val 6957"/>
            </a:avLst>
          </a:prstGeom>
          <a:solidFill>
            <a:srgbClr val="EFE3D6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5422392"/>
            <a:ext cx="34747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417320" y="5349240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limitation: </a:t>
            </a:r>
            <a:pPr indent="0" marL="0">
              <a:buNone/>
            </a:pPr>
            <a:r>
              <a:rPr lang="en-US" sz="11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1,000 films use language_id = 1 (English) — the other 5 catalogued languages are never assigned. Questions involving language variety were reframed using film rating and price tier as defensible proxies.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SQL 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the 12 EDA questions followed the same 3-step process — write a single SQL query, build pivot charts in Excel from the output, then extract data-backed insights.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2468880"/>
            <a:ext cx="502920" cy="50292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Query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05840" y="353872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SQL query per question — joins, CTEs, and window functions (RANK, PARTITION BY) used where ranking or segmentation was required.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24028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468880"/>
            <a:ext cx="502920" cy="50292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1772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Pivot Charts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17720" y="353872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 imported into Excel; 2–3 pivot charts suggested per question — column, line, stacked bar, or heat map depending on the data shape.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01000" y="2240280"/>
            <a:ext cx="33832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27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468880"/>
            <a:ext cx="502920" cy="502920"/>
          </a:xfrm>
          <a:prstGeom prst="ellipse">
            <a:avLst/>
          </a:prstGeom>
          <a:solidFill>
            <a:srgbClr val="8B1E3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3108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B2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Insights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0" y="3538728"/>
            <a:ext cx="2926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data-backed insights written per question, grounded strictly in the query output — no speculation beyond what the numbers show.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categories covered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257800"/>
            <a:ext cx="1719072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525780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Trends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660904" y="5257800"/>
            <a:ext cx="1803197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60904" y="5257800"/>
            <a:ext cx="18031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Segments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28693" y="5257800"/>
            <a:ext cx="1803197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28693" y="5257800"/>
            <a:ext cx="18031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96482" y="5257800"/>
            <a:ext cx="2139696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6482" y="5257800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Preferences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77240" y="5769864"/>
            <a:ext cx="1466698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5769864"/>
            <a:ext cx="146669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Spenders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408530" y="5769864"/>
            <a:ext cx="2476195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08530" y="5769864"/>
            <a:ext cx="24761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Availability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049317" y="5769864"/>
            <a:ext cx="1887322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49317" y="5769864"/>
            <a:ext cx="188732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Patterns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101230" y="5769864"/>
            <a:ext cx="1803197" cy="384048"/>
          </a:xfrm>
          <a:prstGeom prst="roundRect">
            <a:avLst>
              <a:gd name="adj" fmla="val 50000"/>
            </a:avLst>
          </a:prstGeom>
          <a:solidFill>
            <a:srgbClr val="EFE3D6"/>
          </a:solidFill>
          <a:ln w="9525">
            <a:solidFill>
              <a:srgbClr val="D4A24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01230" y="5769864"/>
            <a:ext cx="180319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Factors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Revenue &amp; Seasonal Trends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63040"/>
          <a:ext cx="612648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178040" y="146304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60920" y="155448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42.3%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0" y="15544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revenue came from July alone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178040" y="256032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60920" y="26517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488%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686800" y="265176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from May to July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178040" y="3657600"/>
            <a:ext cx="4206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360920" y="374904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~$4.20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686800" y="374904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transaction value — stable across all months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4892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Revenue swings are driven entirely by rental volume, not pricing — average spend per transaction barely moves while total revenue surges 5x between the slowest and busiest months.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Customer Loyalty &amp; Spend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63040"/>
          <a:ext cx="52120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355080" y="14630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Spending Customers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1874520"/>
          <a:ext cx="5029200" cy="1691640"/>
        </p:xfrm>
        <a:graphic>
          <a:graphicData uri="http://schemas.openxmlformats.org/drawingml/2006/table">
            <a:tbl>
              <a:tblPr/>
              <a:tblGrid>
                <a:gridCol w="1676400"/>
                <a:gridCol w="1676400"/>
                <a:gridCol w="167640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ID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Spend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$221.55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#148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$216.54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#178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$195.58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#137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$191.62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#144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$189.60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355080" y="3794760"/>
            <a:ext cx="5029200" cy="685800"/>
          </a:xfrm>
          <a:prstGeom prst="roundRect">
            <a:avLst>
              <a:gd name="adj" fmla="val 9333"/>
            </a:avLst>
          </a:prstGeom>
          <a:solidFill>
            <a:srgbClr val="EFE3D6"/>
          </a:solidFill>
          <a:ln/>
        </p:spPr>
      </p:sp>
      <p:sp>
        <p:nvSpPr>
          <p:cNvPr id="8" name="Text 4"/>
          <p:cNvSpPr/>
          <p:nvPr/>
        </p:nvSpPr>
        <p:spPr>
          <a:xfrm>
            <a:off x="6537960" y="3794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20 spenders outspend the average customer by 58.7%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77240" y="4892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High-loyalty customers (30+ rentals) generate 35% more revenue per head than mid-tier customers. Converting even 10% of mid-tier customers to high-loyalty could meaningfully grow revenue.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Catalog &amp; Category Insights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17320"/>
          <a:ext cx="48463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521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by world region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828800"/>
          <a:ext cx="5532120" cy="1691640"/>
        </p:xfrm>
        <a:graphic>
          <a:graphicData uri="http://schemas.openxmlformats.org/drawingml/2006/table">
            <a:tbl>
              <a:tblPr/>
              <a:tblGrid>
                <a:gridCol w="1844040"/>
                <a:gridCol w="1844040"/>
                <a:gridCol w="18440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Category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1E3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North America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South America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Sports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Africa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Sci-Fi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4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852160" y="3749040"/>
            <a:ext cx="5532120" cy="731520"/>
          </a:xfrm>
          <a:prstGeom prst="roundRect">
            <a:avLst>
              <a:gd name="adj" fmla="val 8750"/>
            </a:avLst>
          </a:prstGeom>
          <a:solidFill>
            <a:srgbClr val="EFE3D6"/>
          </a:solidFill>
          <a:ln/>
        </p:spPr>
      </p:sp>
      <p:sp>
        <p:nvSpPr>
          <p:cNvPr id="8" name="Text 4"/>
          <p:cNvSpPr/>
          <p:nvPr/>
        </p:nvSpPr>
        <p:spPr>
          <a:xfrm>
            <a:off x="6035040" y="3749040"/>
            <a:ext cx="5166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drives 44.6% of all rentals — and is the only region preferring Animation over Sports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77240" y="4892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Sports is the most culturally universal category, ranking #1 in 3 of 5 world regions — the safest genre for global inventory investment.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Inventory &amp; Operations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63040"/>
          <a:ext cx="54864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583680" y="1463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 snapshot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583680" y="1874520"/>
            <a:ext cx="4846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766560" y="187452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PM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92440" y="187452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hour — both stores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583680" y="2651760"/>
            <a:ext cx="4846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26517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Tuesday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092440" y="265176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Busiest day overall (2,463 rentals)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83680" y="3429000"/>
            <a:ext cx="4846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766560" y="342900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42 films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092440" y="342900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zero inventory copies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4206240"/>
            <a:ext cx="484632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7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766560" y="42062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1.00%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092440" y="420624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Unreturned rate — high-demand films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48920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Inventory scarcity does not suppress demand — high-demand films lead in both rental volume and revenue despite tighter stock, suggesting content appeal outweighs copy count.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07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Geography &amp; Global Reach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463040"/>
          <a:ext cx="7315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366760" y="14630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15361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108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549640" y="19933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generate revenue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366760" y="256032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4964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52.1%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854964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top 10 countries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8366760" y="365760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549640" y="373075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18.4%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549640" y="418795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India + China combined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4937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Revenue follows a long-tail distribution — a handful of markets drive the majority of income while the remaining ~100 countries contribute small, scattered amounts.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08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8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4-page interactive dashboard with consistent navigation across every 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3A3232"/>
          </a:solidFill>
          <a:ln w="9525">
            <a:solidFill>
              <a:srgbClr val="D4A24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344" y="2103120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263347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306324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page with KPI summary cards and navigation to every section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502152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3A3232"/>
          </a:solidFill>
          <a:ln w="9525">
            <a:solidFill>
              <a:srgbClr val="D4A24C">
                <a:alpha val="5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85032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6" y="2103120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85032" y="263347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3685032" y="306324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trend, country map, store comparison, rating × price matrix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27064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3A3232"/>
          </a:solidFill>
          <a:ln w="9525">
            <a:solidFill>
              <a:srgbClr val="D4A24C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9944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8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2168" y="210312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09944" y="263347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Analysis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6409944" y="306324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segments, top spenders, active/inactive split, hourly heat map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951976" y="1920240"/>
            <a:ext cx="2542032" cy="2743200"/>
          </a:xfrm>
          <a:prstGeom prst="roundRect">
            <a:avLst>
              <a:gd name="adj" fmla="val 2878"/>
            </a:avLst>
          </a:prstGeom>
          <a:solidFill>
            <a:srgbClr val="3A3232"/>
          </a:solidFill>
          <a:ln w="9525">
            <a:solidFill>
              <a:srgbClr val="D4A24C">
                <a:alpha val="5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134856" y="20848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8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7080" y="2103120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34856" y="2633472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Film Analysis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9134856" y="3063240"/>
            <a:ext cx="21762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Category-by-country breakdown, inventory demand tiers, regional preferences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777240" y="49377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numbered pill buttons (01–04) on every page, with the active page highlighted in gold. All visuals styled with a custom "Film Reel" theme — charcoal background, single amber accent.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11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09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8B1E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1691640"/>
            <a:ext cx="365760" cy="36576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673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is extreme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21671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alone drives 42.3% of total revenue — the business is highly dependent on a single summer peak month.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70832" y="15087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1691640"/>
            <a:ext cx="365760" cy="36576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4553712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10912" y="1673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pays off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53712" y="21671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High-loyalty customers (30+ rentals) generate 35% more revenue per head than mid-tier customers.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64424" y="150876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47304" y="1691640"/>
            <a:ext cx="365760" cy="36576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6" name="Text 14"/>
          <p:cNvSpPr/>
          <p:nvPr/>
        </p:nvSpPr>
        <p:spPr>
          <a:xfrm>
            <a:off x="8147304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04504" y="167335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 = universal appeal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47304" y="216712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category ranking #1 in 3 of 5 world regions — the safest genre for global inventory bets.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32004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60120" y="3383280"/>
            <a:ext cx="365760" cy="36576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364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 is the core market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8587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44.6% of all rentals originate from Asian countries, led by India and China.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70832" y="32004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3383280"/>
            <a:ext cx="365760" cy="36576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26" name="Text 24"/>
          <p:cNvSpPr/>
          <p:nvPr/>
        </p:nvSpPr>
        <p:spPr>
          <a:xfrm>
            <a:off x="4553712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10912" y="3364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scarcity ≠ lost sales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53712" y="38587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High-demand films still lead in revenue despite tighter copy availability — content appeal wins.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964424" y="3200400"/>
            <a:ext cx="342900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47304" y="3383280"/>
            <a:ext cx="365760" cy="365760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31" name="Text 29"/>
          <p:cNvSpPr/>
          <p:nvPr/>
        </p:nvSpPr>
        <p:spPr>
          <a:xfrm>
            <a:off x="8147304" y="3383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604504" y="336499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1E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PM is the daily peak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147304" y="385876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C4F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stores see a synchronized rental spike at 3 PM — a clear signal for shift-based staffing.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2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457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4A24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7724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applied a structured MECE framework across SQL, Excel, and Power BI to turn 16 raw tables into clear, actionable business insight — from seasonal demand patterns to loyalty economics and global market concentration.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2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871216"/>
            <a:ext cx="201168" cy="20116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3464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retention campaigns at mid-loyalty customers to push them into the high-loyalty tier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438144"/>
            <a:ext cx="201168" cy="20116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40156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inventory and promotions around the May–July seasonal ramp-up to smooth demand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4005072"/>
            <a:ext cx="201168" cy="20116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968496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Sports and Animation content for global catalog expansion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572000"/>
            <a:ext cx="201168" cy="20116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4535424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and restock the 42 zero-inventory films currently generating no revenue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5138928"/>
            <a:ext cx="201168" cy="201168"/>
          </a:xfrm>
          <a:prstGeom prst="ellipse">
            <a:avLst/>
          </a:prstGeom>
          <a:solidFill>
            <a:srgbClr val="D4A24C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5102352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additional staff coverage around the 3 PM daily peak at both stores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77240" y="5989320"/>
            <a:ext cx="10607040" cy="0"/>
          </a:xfrm>
          <a:prstGeom prst="line">
            <a:avLst/>
          </a:prstGeom>
          <a:noFill/>
          <a:ln w="9525">
            <a:solidFill>
              <a:srgbClr val="D4A24C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126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BF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•  Sakila DVD Rental Analytics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Sakila DVD Rental — Full Project Report</dc:title>
  <dc:subject>PptxGenJS Presentation</dc:subject>
  <dc:creator>Data Analytics Project</dc:creator>
  <cp:lastModifiedBy>Data Analytics Project</cp:lastModifiedBy>
  <cp:revision>1</cp:revision>
  <dcterms:created xsi:type="dcterms:W3CDTF">2026-06-21T08:02:25Z</dcterms:created>
  <dcterms:modified xsi:type="dcterms:W3CDTF">2026-06-21T08:02:25Z</dcterms:modified>
</cp:coreProperties>
</file>